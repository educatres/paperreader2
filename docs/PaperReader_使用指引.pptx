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094aabe5f454b" /><Relationship Type="http://schemas.openxmlformats.org/officeDocument/2006/relationships/extended-properties" Target="/docProps/app.xml" Id="Raf478ea881a44f08" /><Relationship Type="http://schemas.openxmlformats.org/officeDocument/2006/relationships/officeDocument" Target="/ppt/presentation.xml" Id="R6de132de46aa48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45b6cb6bd463a"/>
  </p:sldMasterIdLst>
  <p:notesMasterIdLst>
    <p:notesMasterId xmlns:r="http://schemas.openxmlformats.org/officeDocument/2006/relationships" r:id="Rfa52d44d88f941c8"/>
  </p:notesMasterIdLst>
  <p:sldIdLst>
    <p:sldId xmlns:r="http://schemas.openxmlformats.org/officeDocument/2006/relationships" id="256" r:id="Rbb466c96047d41f7"/>
    <p:sldId xmlns:r="http://schemas.openxmlformats.org/officeDocument/2006/relationships" id="257" r:id="R2aef927ad5ec4c61"/>
    <p:sldId xmlns:r="http://schemas.openxmlformats.org/officeDocument/2006/relationships" id="258" r:id="R4689679d41454e37"/>
    <p:sldId xmlns:r="http://schemas.openxmlformats.org/officeDocument/2006/relationships" id="259" r:id="Rb3424b762ccf43dc"/>
    <p:sldId xmlns:r="http://schemas.openxmlformats.org/officeDocument/2006/relationships" id="260" r:id="R7782d02ef5ed4a2d"/>
    <p:sldId xmlns:r="http://schemas.openxmlformats.org/officeDocument/2006/relationships" id="261" r:id="Rce97334dd29d4a11"/>
    <p:sldId xmlns:r="http://schemas.openxmlformats.org/officeDocument/2006/relationships" id="262" r:id="R305e589ea1d44ce9"/>
    <p:sldId xmlns:r="http://schemas.openxmlformats.org/officeDocument/2006/relationships" id="263" r:id="Rc5f70c8f19984fd7"/>
    <p:sldId xmlns:r="http://schemas.openxmlformats.org/officeDocument/2006/relationships" id="264" r:id="R765291e5cc87433c"/>
    <p:sldId xmlns:r="http://schemas.openxmlformats.org/officeDocument/2006/relationships" id="265" r:id="R302ae29599d748c4"/>
    <p:sldId xmlns:r="http://schemas.openxmlformats.org/officeDocument/2006/relationships" id="266" r:id="Rc7f0303df4064b8e"/>
    <p:sldId xmlns:r="http://schemas.openxmlformats.org/officeDocument/2006/relationships" id="267" r:id="R8867257c4ea34a0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67061c3d0d4f7f" /><Relationship Type="http://schemas.openxmlformats.org/officeDocument/2006/relationships/slideMaster" Target="/ppt/slideMasters/slideMaster1.xml" Id="R7e945b6cb6bd463a" /><Relationship Type="http://schemas.openxmlformats.org/officeDocument/2006/relationships/notesMaster" Target="/ppt/notesMasters/notesMaster1.xml" Id="Rfa52d44d88f941c8" /><Relationship Type="http://schemas.openxmlformats.org/officeDocument/2006/relationships/presProps" Target="/ppt/presProps.xml" Id="R46580c7ebb7f42e3" /><Relationship Type="http://schemas.openxmlformats.org/officeDocument/2006/relationships/tableStyles" Target="/ppt/tableStyles.xml" Id="Re0511b4c828e43f2" /><Relationship Type="http://schemas.openxmlformats.org/officeDocument/2006/relationships/slide" Target="/ppt/slides/slide1.xml" Id="Rbb466c96047d41f7" /><Relationship Type="http://schemas.openxmlformats.org/officeDocument/2006/relationships/slide" Target="/ppt/slides/slide2.xml" Id="R2aef927ad5ec4c61" /><Relationship Type="http://schemas.openxmlformats.org/officeDocument/2006/relationships/slide" Target="/ppt/slides/slide3.xml" Id="R4689679d41454e37" /><Relationship Type="http://schemas.openxmlformats.org/officeDocument/2006/relationships/slide" Target="/ppt/slides/slide4.xml" Id="Rb3424b762ccf43dc" /><Relationship Type="http://schemas.openxmlformats.org/officeDocument/2006/relationships/slide" Target="/ppt/slides/slide5.xml" Id="R7782d02ef5ed4a2d" /><Relationship Type="http://schemas.openxmlformats.org/officeDocument/2006/relationships/slide" Target="/ppt/slides/slide6.xml" Id="Rce97334dd29d4a11" /><Relationship Type="http://schemas.openxmlformats.org/officeDocument/2006/relationships/slide" Target="/ppt/slides/slide7.xml" Id="R305e589ea1d44ce9" /><Relationship Type="http://schemas.openxmlformats.org/officeDocument/2006/relationships/slide" Target="/ppt/slides/slide8.xml" Id="Rc5f70c8f19984fd7" /><Relationship Type="http://schemas.openxmlformats.org/officeDocument/2006/relationships/slide" Target="/ppt/slides/slide9.xml" Id="R765291e5cc87433c" /><Relationship Type="http://schemas.openxmlformats.org/officeDocument/2006/relationships/slide" Target="/ppt/slides/slide10.xml" Id="R302ae29599d748c4" /><Relationship Type="http://schemas.openxmlformats.org/officeDocument/2006/relationships/slide" Target="/ppt/slides/slide11.xml" Id="Rc7f0303df4064b8e" /><Relationship Type="http://schemas.openxmlformats.org/officeDocument/2006/relationships/slide" Target="/ppt/slides/slide12.xml" Id="R8867257c4ea34a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5e16ef5bf4c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7ec1d1049f4ba5" /><Relationship Type="http://schemas.openxmlformats.org/officeDocument/2006/relationships/notesMaster" Target="/ppt/notesMasters/notesMaster1.xml" Id="R8613e10d0f96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8b9df1e474b86" /><Relationship Type="http://schemas.openxmlformats.org/officeDocument/2006/relationships/notesMaster" Target="/ppt/notesMasters/notesMaster1.xml" Id="R9159f8a86a78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5f8566f5b493d" /><Relationship Type="http://schemas.openxmlformats.org/officeDocument/2006/relationships/notesMaster" Target="/ppt/notesMasters/notesMaster1.xml" Id="R6343463c19d4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f416f01e1047c2" /><Relationship Type="http://schemas.openxmlformats.org/officeDocument/2006/relationships/notesMaster" Target="/ppt/notesMasters/notesMaster1.xml" Id="R64c54e8ba18b4e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9380ba84541ca" /><Relationship Type="http://schemas.openxmlformats.org/officeDocument/2006/relationships/notesMaster" Target="/ppt/notesMasters/notesMaster1.xml" Id="Rc6c9b7fa4e93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21e49f266462e" /><Relationship Type="http://schemas.openxmlformats.org/officeDocument/2006/relationships/notesMaster" Target="/ppt/notesMasters/notesMaster1.xml" Id="R590b30418cfd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d8b1ce8efb4021" /><Relationship Type="http://schemas.openxmlformats.org/officeDocument/2006/relationships/notesMaster" Target="/ppt/notesMasters/notesMaster1.xml" Id="R24bd459bc2d4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4666ddad64002" /><Relationship Type="http://schemas.openxmlformats.org/officeDocument/2006/relationships/notesMaster" Target="/ppt/notesMasters/notesMaster1.xml" Id="R9e7617ff4f4b46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bf31ba93ac4335" /><Relationship Type="http://schemas.openxmlformats.org/officeDocument/2006/relationships/notesMaster" Target="/ppt/notesMasters/notesMaster1.xml" Id="R4ef92d4cdda8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0e30c76984bfe" /><Relationship Type="http://schemas.openxmlformats.org/officeDocument/2006/relationships/notesMaster" Target="/ppt/notesMasters/notesMaster1.xml" Id="Ra222a24e103849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8498fbaf3148c2" /><Relationship Type="http://schemas.openxmlformats.org/officeDocument/2006/relationships/notesMaster" Target="/ppt/notesMasters/notesMaster1.xml" Id="R0ca3528b7ac8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3fe9d9e64a441a" /><Relationship Type="http://schemas.openxmlformats.org/officeDocument/2006/relationships/notesMaster" Target="/ppt/notesMasters/notesMaster1.xml" Id="R243b64db16ca47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線上網站：https://educatres.github.io/PaperReader/。本指引使用內建的原創教學 PDF。已更新 CGU 瀏覽器直接連線流程（2026-10-19）。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來源：src/App.tsx、src/components/PdfViewer.tsx、01-overview.png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來源：src/components/PdfViewer.tsx、src/components/NoteNode.tsx、02-highlight.png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來源：src/components/ScreenshotSelection.tsx、src/components/NoteNode.tsx、src/lib/noteText.ts、03-screenshot-note.png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來源：src/components/ResearchCanvas.tsx、04-relationship.png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來源：src/components/Settings.tsx、src/lib/ai.ts、05-gemini.png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來源：README.md CGU 連線、src/components/Settings.tsx、06-cgu.png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來源：src/components/NoteNode.tsx、src/lib/ai.ts、07-note-ai.png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來源：src/components/GroupSummaryDialog.tsx、src/lib/groupSummary.ts、08-group-preview.png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來源：src/components/NoteNode.tsx、src/lib/groupSummary.ts、09-group-result.png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來源：src/App.tsx、src/lib/transfer.ts、10-export.png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PaperReader 操作說明，已更新 CGU 瀏覽器直接連線流程（2026-10-19）。</a:t>
            </a:r>
          </a:p>
          <a:p xmlns:a="http://schemas.openxmlformats.org/drawingml/2006/main">
            <a:r>
              <a:t>來源：src/App.tsx、src/lib/db.ts、README.md 隱私與本機儲存、11-restore.png</a:t>
            </a:r>
          </a:p>
          <a:p xmlns:a="http://schemas.openxmlformats.org/drawingml/2006/main">
            <a:r>
              <a:t>範例：public/sample.pdf，Reading as a Research Practice，原創三頁教學文件，非科學研究論文。</a:t>
            </a:r>
          </a:p>
          <a:p xmlns:a="http://schemas.openxmlformats.org/drawingml/2006/main">
            <a:r>
              <a:t>畫面來自獨立的教學瀏覽器環境，不含私人憑證。AI 回應與模型清單為預先設定的教學示例，未向真實供應商發出生成請求。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3a4b5be44d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e8f9e3b524c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495b946d6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2ae43226b40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ce163844b4a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1d87a19044d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43D151-10AD-4C44-8845-E35770EC4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CEB74D-0C69-4A82-8123-95FE833160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FFFD07-DBEB-423D-971D-D77D69327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F9D50B-29D5-4680-AABE-743245431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33CBAB-AA4F-4936-9DE7-F5FBE613A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C6CC63-A9C7-466E-AD11-344D1CABD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8CA786-5D40-4C02-944C-2AFF13C31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209DEF-9F0C-45C2-AC48-7EAE8CCE0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2CB431-7C3B-45CD-B8C9-47680BD6A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D80438-0F44-40B0-9856-A679A916B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9f2b3494d04088" /><Relationship Type="http://schemas.openxmlformats.org/officeDocument/2006/relationships/slideLayout" Target="/ppt/slideLayouts/slideLayout1.xml" Id="Ra69a6bc571a54e4e" /><Relationship Type="http://schemas.openxmlformats.org/officeDocument/2006/relationships/slideLayout" Target="/ppt/slideLayouts/slideLayout2.xml" Id="R474b2bf624204773" /><Relationship Type="http://schemas.openxmlformats.org/officeDocument/2006/relationships/slideLayout" Target="/ppt/slideLayouts/slideLayout3.xml" Id="R1b0873b272f04724" /><Relationship Type="http://schemas.openxmlformats.org/officeDocument/2006/relationships/slideLayout" Target="/ppt/slideLayouts/slideLayout4.xml" Id="R59b80270a33b4921" /><Relationship Type="http://schemas.openxmlformats.org/officeDocument/2006/relationships/slideLayout" Target="/ppt/slideLayouts/slideLayout5.xml" Id="R8b0795f756b14c45" /><Relationship Type="http://schemas.openxmlformats.org/officeDocument/2006/relationships/slideLayout" Target="/ppt/slideLayouts/slideLayout6.xml" Id="R90abdbb2d70d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a6bc571a54e4e"/>
    <p:sldLayoutId xmlns:r="http://schemas.openxmlformats.org/officeDocument/2006/relationships" id="2147483650" r:id="R474b2bf624204773"/>
    <p:sldLayoutId xmlns:r="http://schemas.openxmlformats.org/officeDocument/2006/relationships" id="2147483651" r:id="R1b0873b272f04724"/>
    <p:sldLayoutId xmlns:r="http://schemas.openxmlformats.org/officeDocument/2006/relationships" id="2147483652" r:id="R59b80270a33b4921"/>
    <p:sldLayoutId xmlns:r="http://schemas.openxmlformats.org/officeDocument/2006/relationships" id="2147483653" r:id="R8b0795f756b14c45"/>
    <p:sldLayoutId xmlns:r="http://schemas.openxmlformats.org/officeDocument/2006/relationships" id="2147483654" r:id="R90abdbb2d70d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648aa04c844be" /><Relationship Type="http://schemas.openxmlformats.org/officeDocument/2006/relationships/notesSlide" Target="/ppt/notesSlides/notesSlide1.xml" Id="Rb426f7f817a0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573c28b274808" /><Relationship Type="http://schemas.openxmlformats.org/officeDocument/2006/relationships/image" Target="/ppt/media/image.png" Id="R62e8f81026ee45d7" /><Relationship Type="http://schemas.openxmlformats.org/officeDocument/2006/relationships/notesSlide" Target="/ppt/notesSlides/notesSlide2.xml" Id="R73b48cf49955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c5cda7a72423f" /><Relationship Type="http://schemas.openxmlformats.org/officeDocument/2006/relationships/image" Target="/ppt/media/image2.png" Id="Rd9eaae469b7141d3" /><Relationship Type="http://schemas.openxmlformats.org/officeDocument/2006/relationships/image" Target="/ppt/media/image3.png" Id="R44943854062f4c2c" /><Relationship Type="http://schemas.openxmlformats.org/officeDocument/2006/relationships/notesSlide" Target="/ppt/notesSlides/notesSlide3.xml" Id="Rd2b7813bcf2a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a38c158884d6d" /><Relationship Type="http://schemas.openxmlformats.org/officeDocument/2006/relationships/image" Target="/ppt/media/image4.png" Id="R38a855dd5ae04fb9" /><Relationship Type="http://schemas.openxmlformats.org/officeDocument/2006/relationships/notesSlide" Target="/ppt/notesSlides/notesSlide4.xml" Id="R085736fa28ff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396ec65f9444d" /><Relationship Type="http://schemas.openxmlformats.org/officeDocument/2006/relationships/image" Target="/ppt/media/image5.png" Id="R15030d785f0b412b" /><Relationship Type="http://schemas.openxmlformats.org/officeDocument/2006/relationships/notesSlide" Target="/ppt/notesSlides/notesSlide5.xml" Id="R000c2e57a4b3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751c72dcb4045" /><Relationship Type="http://schemas.openxmlformats.org/officeDocument/2006/relationships/image" Target="/ppt/media/image6.png" Id="R90f5821db0ef456e" /><Relationship Type="http://schemas.openxmlformats.org/officeDocument/2006/relationships/notesSlide" Target="/ppt/notesSlides/notesSlide6.xml" Id="Ra774f81b41e3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8d0d175ef4327" /><Relationship Type="http://schemas.openxmlformats.org/officeDocument/2006/relationships/image" Target="/ppt/media/image7.png" Id="Rd48a517992bb4246" /><Relationship Type="http://schemas.openxmlformats.org/officeDocument/2006/relationships/notesSlide" Target="/ppt/notesSlides/notesSlide7.xml" Id="Rf741003b46f2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4c7006de94463" /><Relationship Type="http://schemas.openxmlformats.org/officeDocument/2006/relationships/image" Target="/ppt/media/image8.png" Id="R8c454a35c5eb46e3" /><Relationship Type="http://schemas.openxmlformats.org/officeDocument/2006/relationships/notesSlide" Target="/ppt/notesSlides/notesSlide8.xml" Id="R9c3648ece6da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6defa71884cc0" /><Relationship Type="http://schemas.openxmlformats.org/officeDocument/2006/relationships/image" Target="/ppt/media/image9.png" Id="Reafee4fd7c2448ce" /><Relationship Type="http://schemas.openxmlformats.org/officeDocument/2006/relationships/image" Target="/ppt/media/image10.png" Id="R6591930c582d4233" /><Relationship Type="http://schemas.openxmlformats.org/officeDocument/2006/relationships/notesSlide" Target="/ppt/notesSlides/notesSlide9.xml" Id="R63334762e67b49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b6b1994ad4726" /><Relationship Type="http://schemas.openxmlformats.org/officeDocument/2006/relationships/image" Target="/ppt/media/image11.png" Id="R0059778a723e47cc" /><Relationship Type="http://schemas.openxmlformats.org/officeDocument/2006/relationships/notesSlide" Target="/ppt/notesSlides/notesSlide10.xml" Id="R76abb1d9bb6344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1647cdca44d48" /><Relationship Type="http://schemas.openxmlformats.org/officeDocument/2006/relationships/image" Target="/ppt/media/image12.png" Id="R06d3ee062bd24610" /><Relationship Type="http://schemas.openxmlformats.org/officeDocument/2006/relationships/notesSlide" Target="/ppt/notesSlides/notesSlide11.xml" Id="Ra188ae1f8814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a9645d0344a3d" /><Relationship Type="http://schemas.openxmlformats.org/officeDocument/2006/relationships/image" Target="/ppt/media/image13.png" Id="R3b632717507a4a02" /><Relationship Type="http://schemas.openxmlformats.org/officeDocument/2006/relationships/notesSlide" Target="/ppt/notesSlides/notesSlide12.xml" Id="R1fde34de81b34d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3DB6A34-0604-4739-B727-3ACA797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2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PaperReader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602413D-12E1-4EF6-8703-635D363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238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使用指引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916473E-F004-44E5-ABFB-344572B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1295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用內建範例練習 PDF 標記、研究便條與 AI 摘要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257FF0B-89B0-44E3-9F08-A05A6FE3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15075"/>
            <a:ext cx="1295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https://educatres.github.io/PaperReader/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B8C136D-AF4B-4542-B01D-ABB27452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247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繁體中文桌面操作示範　2026.10</a:t>
            </a:r>
          </a:p>
        </p:txBody>
      </p:sp>
    </p:spTree>
    <p:extLst>
      <p:ext uri="{BB962C8B-B14F-4D97-AF65-F5344CB8AC3E}">
        <p14:creationId xmlns:p14="http://schemas.microsoft.com/office/powerpoint/2010/main" val="785447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F72304AC-4C54-4B07-9D88-0A718AE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範例與閱讀介面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07D3F384-D205-4841-B389-CBC8ACD2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926C3BA3-A9CE-4D4C-A135-7E098A95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6BB206AA-B13C-4A71-A27A-93B54294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開啟範例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A179C03C-4DB2-4D77-9F93-BC2BB4D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初次開啟網站時，點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「先試讀一篇範例」。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也可使用「開啟 PDF」。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FC3D2EBB-2C5E-439E-AE76-DBB9618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左側閱讀，右側記錄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390864CC-E9DE-4D29-8EC3-0428645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左邊是 PDF，右邊是白板。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拖曳中間分隔線調整比例。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BAB5F4F6-2316-4913-B4FB-D2A87FA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3. 調整閱讀空間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CBFE80A3-336E-4F25-8456-F8F99035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文件列右側可隱藏工具列，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再按「展開工具列」恢復。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5C9DF-9A97-4EAC-9AE5-EAA0B0864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8f81026ee45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72100" y="18097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1023768A-4FB7-42EE-825F-2658E7A4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6200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範例為原創三頁教學 PDF，供功能練習使用。</a:t>
            </a:r>
          </a:p>
        </p:txBody>
      </p:sp>
    </p:spTree>
    <p:extLst>
      <p:ext uri="{BB962C8B-B14F-4D97-AF65-F5344CB8AC3E}">
        <p14:creationId xmlns:p14="http://schemas.microsoft.com/office/powerpoint/2010/main" val="1310144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9A05911E-8125-40E8-824F-7F1048C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選字標記與來源便條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E9255C1D-AB41-405E-8467-B2910D7B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9CDEABE0-522D-4B25-821C-7F7645C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AA52B3D8-91D9-436E-96CC-26C47D0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選「螢光筆」與顏色，在同一頁拖曳選字，放開後會自動建立便條。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6B2BA6B5-C145-4A5B-8A6D-F0C10E78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PDF 選字段落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D15F076C-F907-47B0-B65B-AB8B91D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自動建立的來源便條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4624F-DEA5-4236-B950-6FB00452C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aae469b7141d3"/>
          <a:srcRect xmlns:a="http://schemas.openxmlformats.org/drawingml/2006/main" l="6875" t="31737" r="72500" b="41916"/>
          <a:stretch xmlns:a="http://schemas.openxmlformats.org/drawingml/2006/main"/>
        </p:blipFill>
        <p:spPr>
          <a:xfrm xmlns:a="http://schemas.openxmlformats.org/drawingml/2006/main">
            <a:off x="1042988" y="2809875"/>
            <a:ext cx="6257925" cy="41719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7B1B9-89F0-40EA-8C57-F38965ED0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43854062f4c2c"/>
          <a:srcRect xmlns:a="http://schemas.openxmlformats.org/drawingml/2006/main" l="68125" t="38323" r="13125" b="28743"/>
          <a:stretch xmlns:a="http://schemas.openxmlformats.org/drawingml/2006/main"/>
        </p:blipFill>
        <p:spPr>
          <a:xfrm xmlns:a="http://schemas.openxmlformats.org/drawingml/2006/main">
            <a:off x="8875568" y="2752725"/>
            <a:ext cx="5299364" cy="4857750"/>
          </a:xfrm>
          <a:prstGeom xmlns:a="http://schemas.openxmlformats.org/drawingml/2006/main" prst="rect">
            <a:avLst/>
          </a:prstGeom>
        </p:spPr>
      </p:pic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E31C6210-D56C-446E-A6FC-39578F45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9925"/>
            <a:ext cx="638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跨頁請分開標記。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選取完整語意，保留限制與前提。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4B0E0640-ADF0-4237-B62D-3205C7D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67625"/>
            <a:ext cx="1352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點標記可找便條；便條右下角箭頭可回原文。</a:t>
            </a:r>
          </a:p>
        </p:txBody>
      </p:sp>
    </p:spTree>
    <p:extLst>
      <p:ext uri="{BB962C8B-B14F-4D97-AF65-F5344CB8AC3E}">
        <p14:creationId xmlns:p14="http://schemas.microsoft.com/office/powerpoint/2010/main" val="117909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C3C6D0BC-C6F1-4E78-AA25-7EFB64E1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PDF 截圖便條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A9D2BA24-DE4B-4F02-9877-4375F563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9C6D1071-6788-4478-A342-FECD8E76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0DC5683D-E0E8-48B5-A31D-FE322EBE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框選單頁內容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6836E4F4-5946-4E55-884E-EBD16E5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PDF 工具列選「截圖模式」，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拖曳框出需要的範圍。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按 Esc 可取消或結束。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2967D640-E3E7-425D-82F3-7D6D427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自行補充文字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DD4D3406-4E0E-41D5-9239-D1701929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新便條預設沒有文字。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點「輸入或貼上文字」，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或用鉛筆編輯內容。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C4E51D73-A5E2-48F6-B3B5-80BBC0D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3. 圖片與 AI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55986EF5-51BF-413C-8C69-D91607E2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點圖片可放大查看。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AI 只讀便條文字與筆記，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圖片不作分析。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EE1E4-9EE2-4889-9739-E3A8E86B8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855dd5ae04fb9"/>
          <a:srcRect xmlns:a="http://schemas.openxmlformats.org/drawingml/2006/main" l="63187" t="35329" r="3846" b="23353"/>
          <a:stretch xmlns:a="http://schemas.openxmlformats.org/drawingml/2006/main"/>
        </p:blipFill>
        <p:spPr>
          <a:xfrm xmlns:a="http://schemas.openxmlformats.org/drawingml/2006/main">
            <a:off x="8057322" y="1666875"/>
            <a:ext cx="4306957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32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078E2CB1-4813-4257-9AD2-B956627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便條連線與關係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D7D85748-82B3-4770-873F-07225E2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F882CBCE-AF4D-4A93-9123-E9DD7B05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82F7FF23-0046-49C3-9381-4F263D4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建立連線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9602763C-1848-439E-9E18-A1D1B6F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從一張便條四邊的連接點，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拖到另一張便條。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雙擊連線可再編輯。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39252B98-6D64-4E6C-B0F5-DD1D22E9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設定關係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4E57A43E-8B18-468D-B1F9-AF3A155B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選擇關係類型，補上說明。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需要時勾選方向箭頭，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再按「儲存關係」。</a:t>
            </a:r>
          </a:p>
        </p:txBody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498AC16B-F066-4E35-BFB3-BDF15BA9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這裡示範「待驗證」：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用原文檢查摘要是否遺漏限制。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人工連線保留你的研究判斷。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2ACFD-86CD-449F-9FE6-9E0C47A6D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30d785f0b41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42528" y="1905000"/>
            <a:ext cx="7593669" cy="5743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03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1">
            <a:extLst xmlns:a="http://schemas.openxmlformats.org/drawingml/2006/main">
              <a:ext uri="{FF2B5EF4-FFF2-40B4-BE49-F238E27FC236}">
                <a16:creationId xmlns:a16="http://schemas.microsoft.com/office/drawing/2014/main" id="{C30A6496-DE81-4A6D-BF64-9D60EEA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AI 設定與 API Key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02A642BB-158C-4A8A-91EF-78A2B11C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E7CAD9C3-391C-4B26-8157-7AF7F3D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E968E9F2-C7E0-46AD-A5EC-41CE00AC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連接自己的 AI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0D5CA4BF-A12E-44B9-8069-7B6586E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點「連接你的 AI」，選供應商，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貼上金鑰並選模型。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「測試連線」會使用少量額度。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DF4521AF-810E-4B47-AFE7-1437FAC6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辨識暫存金鑰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45A887C3-3F4B-4D10-90ED-50BC225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已設定時顯示 ***。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「清除本機 API Key」會清除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目前供應商的分頁金鑰。</a:t>
            </a:r>
          </a:p>
        </p:txBody>
      </p:sp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0CEDD851-9A5B-4FBD-B9D4-DD33B2CF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57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Gemini 取得清單後，若包含</a:t>
            </a:r>
          </a:p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gemini-flash-lite-latest 就預選它；</a:t>
            </a:r>
          </a:p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沒有時，需由你選擇模型。</a:t>
            </a:r>
          </a:p>
        </p:txBody>
      </p:sp>
      <p:sp>
        <p:nvSpPr>
          <p:cNvPr id="9" name="text-49">
            <a:extLst xmlns:a="http://schemas.openxmlformats.org/drawingml/2006/main">
              <a:ext uri="{FF2B5EF4-FFF2-40B4-BE49-F238E27FC236}">
                <a16:creationId xmlns:a16="http://schemas.microsoft.com/office/drawing/2014/main" id="{A01B346D-D8C9-45FC-B704-A15DD62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重新整理或關閉分頁後，需重填金鑰。</a:t>
            </a:r>
          </a:p>
        </p:txBody>
      </p:sp>
      <p:sp>
        <p:nvSpPr>
          <p:cNvPr id="10" name="text-50">
            <a:extLst xmlns:a="http://schemas.openxmlformats.org/drawingml/2006/main">
              <a:ext uri="{FF2B5EF4-FFF2-40B4-BE49-F238E27FC236}">
                <a16:creationId xmlns:a16="http://schemas.microsoft.com/office/drawing/2014/main" id="{BEAFACDF-EA79-488C-8E38-ACD9CAC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05725"/>
            <a:ext cx="1381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OpenAI／CGU 可選 gpt-6-luna、gpt-5.6-luna 或自訂模型；推理預設為中。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67D4A-3A5D-4860-B02A-BC72B7200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5821db0ef456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91490" y="1666875"/>
            <a:ext cx="6305245" cy="5381625"/>
          </a:xfrm>
          <a:prstGeom xmlns:a="http://schemas.openxmlformats.org/drawingml/2006/main" prst="rect">
            <a:avLst/>
          </a:prstGeom>
        </p:spPr>
      </p:pic>
      <p:sp>
        <p:nvSpPr>
          <p:cNvPr id="12" name="text-51">
            <a:extLst xmlns:a="http://schemas.openxmlformats.org/drawingml/2006/main">
              <a:ext uri="{FF2B5EF4-FFF2-40B4-BE49-F238E27FC236}">
                <a16:creationId xmlns:a16="http://schemas.microsoft.com/office/drawing/2014/main" id="{5638BA50-93BD-4404-9FED-EEDC6CA4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029450"/>
            <a:ext cx="823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模型清單為教學示例，實際可用模型依帳戶而定。</a:t>
            </a:r>
          </a:p>
        </p:txBody>
      </p:sp>
    </p:spTree>
    <p:extLst>
      <p:ext uri="{BB962C8B-B14F-4D97-AF65-F5344CB8AC3E}">
        <p14:creationId xmlns:p14="http://schemas.microsoft.com/office/powerpoint/2010/main" val="2040619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2">
            <a:extLst xmlns:a="http://schemas.openxmlformats.org/drawingml/2006/main">
              <a:ext uri="{FF2B5EF4-FFF2-40B4-BE49-F238E27FC236}">
                <a16:creationId xmlns:a16="http://schemas.microsoft.com/office/drawing/2014/main" id="{1017BBD9-8CEB-42D4-9CB4-2E9EE47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CGU 瀏覽器直接連線</a:t>
            </a:r>
          </a:p>
        </p:txBody>
      </p:sp>
      <p:sp>
        <p:nvSpPr>
          <p:cNvPr id="2" name="text-53">
            <a:extLst xmlns:a="http://schemas.openxmlformats.org/drawingml/2006/main">
              <a:ext uri="{FF2B5EF4-FFF2-40B4-BE49-F238E27FC236}">
                <a16:creationId xmlns:a16="http://schemas.microsoft.com/office/drawing/2014/main" id="{72888E3F-C2A2-47B2-80CE-EA0286FD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54">
            <a:extLst xmlns:a="http://schemas.openxmlformats.org/drawingml/2006/main">
              <a:ext uri="{FF2B5EF4-FFF2-40B4-BE49-F238E27FC236}">
                <a16:creationId xmlns:a16="http://schemas.microsoft.com/office/drawing/2014/main" id="{E42B4CCF-E8D6-48EA-BDA1-F6B29F60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text-55">
            <a:extLst xmlns:a="http://schemas.openxmlformats.org/drawingml/2006/main">
              <a:ext uri="{FF2B5EF4-FFF2-40B4-BE49-F238E27FC236}">
                <a16:creationId xmlns:a16="http://schemas.microsoft.com/office/drawing/2014/main" id="{28F139B4-2D6A-4BB8-8845-04B29C97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381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在「連接你的 AI」選 CGU API，即可由瀏覽器直接連線。</a:t>
            </a:r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83B674AA-9E25-4CD1-AF6C-2F87CC1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貼上並驗證金鑰</a:t>
            </a:r>
          </a:p>
        </p:txBody>
      </p:sp>
      <p:sp>
        <p:nvSpPr>
          <p:cNvPr id="6" name="text-57">
            <a:extLst xmlns:a="http://schemas.openxmlformats.org/drawingml/2006/main">
              <a:ext uri="{FF2B5EF4-FFF2-40B4-BE49-F238E27FC236}">
                <a16:creationId xmlns:a16="http://schemas.microsoft.com/office/drawing/2014/main" id="{298CBAB7-CCC1-4E4C-AFD0-B2C2184B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貼上自己的 CGU API key，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按「驗證 CGU 金鑰」。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這一步只查詢模型清單。</a:t>
            </a:r>
          </a:p>
        </p:txBody>
      </p:sp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9B0C32B7-1F12-4373-A37D-ABEA2E3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選擇模型並測試</a:t>
            </a:r>
          </a:p>
        </p:txBody>
      </p:sp>
      <p:sp>
        <p:nvSpPr>
          <p:cNvPr id="8" name="text-59">
            <a:extLst xmlns:a="http://schemas.openxmlformats.org/drawingml/2006/main">
              <a:ext uri="{FF2B5EF4-FFF2-40B4-BE49-F238E27FC236}">
                <a16:creationId xmlns:a16="http://schemas.microsoft.com/office/drawing/2014/main" id="{2141F1B4-C9F8-49A0-9FB9-8E0C0C9B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選擇模型與推理程度，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按「測試連線」確認文字生成。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測試會使用少量額度。</a:t>
            </a:r>
          </a:p>
        </p:txBody>
      </p:sp>
      <p:sp>
        <p:nvSpPr>
          <p:cNvPr id="9" name="text-60">
            <a:extLst xmlns:a="http://schemas.openxmlformats.org/drawingml/2006/main">
              <a:ext uri="{FF2B5EF4-FFF2-40B4-BE49-F238E27FC236}">
                <a16:creationId xmlns:a16="http://schemas.microsoft.com/office/drawing/2014/main" id="{E84C41D5-B54E-4523-8FA2-DFBE70DF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金鑰與文字以 HTTPS 直接傳給 CGU。</a:t>
            </a:r>
          </a:p>
        </p:txBody>
      </p:sp>
      <p:sp>
        <p:nvSpPr>
          <p:cNvPr id="10" name="text-61">
            <a:extLst xmlns:a="http://schemas.openxmlformats.org/drawingml/2006/main">
              <a:ext uri="{FF2B5EF4-FFF2-40B4-BE49-F238E27FC236}">
                <a16:creationId xmlns:a16="http://schemas.microsoft.com/office/drawing/2014/main" id="{244C706D-07B0-4324-9204-3F7379E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00950"/>
            <a:ext cx="1381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模型清單為教學示例；實際可用模型依帳戶而定。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20AF0-A448-41A9-B878-D99C45E73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a517992bb42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3399" y="2028825"/>
            <a:ext cx="7799552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56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2">
            <a:extLst xmlns:a="http://schemas.openxmlformats.org/drawingml/2006/main">
              <a:ext uri="{FF2B5EF4-FFF2-40B4-BE49-F238E27FC236}">
                <a16:creationId xmlns:a16="http://schemas.microsoft.com/office/drawing/2014/main" id="{BB14BA49-45CA-4E39-A633-2A43839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便條翻譯與摘要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A5200F00-C659-4FB1-9621-E29A40F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FA5BE4F3-F0A3-4413-87B6-31CD43D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569D464E-7B22-48CB-A904-4181C1F7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便條下方的 AI 按鈕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B1485152-9116-4ABC-9660-4BD5E7A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連接 AI 後，點「翻譯」或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「摘要」，結果會出現在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對應的分頁。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70C065D2-61D2-44DF-A5B7-F212B1D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保留自己的解讀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B8CFAA66-C5B4-4E97-9AEA-411EEDF6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可編輯翻譯或摘要。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用「筆記」記下疑問，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再回原文核對。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BB24EF1A-E3F0-4BCA-8EC9-F47ED1DD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4648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「全文摘要」是另一項功能，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會先確認傳送目前 PDF 的分塊文字。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71CC4-946D-47DE-BA55-A953D93AA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54a35c5eb46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00847" y="1971675"/>
            <a:ext cx="5877031" cy="5286375"/>
          </a:xfrm>
          <a:prstGeom xmlns:a="http://schemas.openxmlformats.org/drawingml/2006/main" prst="rect">
            <a:avLst/>
          </a:prstGeom>
        </p:spPr>
      </p:pic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E2F09109-050C-4E88-91CC-06D22BF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77125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AI 回應為教學示例，使用時請回查原文。</a:t>
            </a:r>
          </a:p>
        </p:txBody>
      </p:sp>
    </p:spTree>
    <p:extLst>
      <p:ext uri="{BB962C8B-B14F-4D97-AF65-F5344CB8AC3E}">
        <p14:creationId xmlns:p14="http://schemas.microsoft.com/office/powerpoint/2010/main" val="1786928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087E3B2C-76A0-45BA-BB34-A04E686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關聯摘要的確認範圍</a:t>
            </a:r>
          </a:p>
        </p:txBody>
      </p:sp>
      <p:sp>
        <p:nvSpPr>
          <p:cNvPr id="2" name="text-72">
            <a:extLst xmlns:a="http://schemas.openxmlformats.org/drawingml/2006/main">
              <a:ext uri="{FF2B5EF4-FFF2-40B4-BE49-F238E27FC236}">
                <a16:creationId xmlns:a16="http://schemas.microsoft.com/office/drawing/2014/main" id="{842FED91-DE06-47FA-84F8-C3EED18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73">
            <a:extLst xmlns:a="http://schemas.openxmlformats.org/drawingml/2006/main">
              <a:ext uri="{FF2B5EF4-FFF2-40B4-BE49-F238E27FC236}">
                <a16:creationId xmlns:a16="http://schemas.microsoft.com/office/drawing/2014/main" id="{10D9A5A5-24F8-46AA-887D-20FF8A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F4B84754-28CA-420E-AFEE-C4546A7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選取相連的便條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ED2600DE-C783-4833-86DF-50860F5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至少兩張便條相連後，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選取其中一張，點白板上方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「關聯摘要」。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FDDCE8EC-8DFD-48DB-BE12-39C00142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檢查預覽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7623EFF0-4536-4478-BA66-DE003E1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納入直接與間接相連的便條，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排除隱藏項目。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連線類型、說明與方向也會傳送。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2AB4F756-2EA9-4A70-A136-B607DA4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591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確認後按「同意傳送並整合」。</a:t>
            </a:r>
          </a:p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截圖只使用你填入的文字，</a:t>
            </a:r>
          </a:p>
          <a:p xmlns:a="http://schemas.openxmlformats.org/drawingml/2006/main">
            <a:pPr>
              <a:def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圖片不會傳給 AI。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ECA98-A5E0-4876-9CC1-789C317C7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ee4fd7c2448ce"/>
          <a:srcRect xmlns:a="http://schemas.openxmlformats.org/drawingml/2006/main" l="2273" t="15013" r="2273" b="36684"/>
          <a:stretch xmlns:a="http://schemas.openxmlformats.org/drawingml/2006/main"/>
        </p:blipFill>
        <p:spPr>
          <a:xfrm xmlns:a="http://schemas.openxmlformats.org/drawingml/2006/main">
            <a:off x="5762625" y="1941588"/>
            <a:ext cx="8763000" cy="5146524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0817-EB30-4C69-9A24-261F4329D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1930c582d4233"/>
          <a:srcRect xmlns:a="http://schemas.openxmlformats.org/drawingml/2006/main" l="2273" t="91057" r="2273" b="1762"/>
          <a:stretch xmlns:a="http://schemas.openxmlformats.org/drawingml/2006/main"/>
        </p:blipFill>
        <p:spPr>
          <a:xfrm xmlns:a="http://schemas.openxmlformats.org/drawingml/2006/main">
            <a:off x="6325466" y="7200900"/>
            <a:ext cx="7637318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65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9">
            <a:extLst xmlns:a="http://schemas.openxmlformats.org/drawingml/2006/main">
              <a:ext uri="{FF2B5EF4-FFF2-40B4-BE49-F238E27FC236}">
                <a16:creationId xmlns:a16="http://schemas.microsoft.com/office/drawing/2014/main" id="{5ED91956-53DC-40B2-8C2E-2DCD681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紫色整合便條</a:t>
            </a:r>
          </a:p>
        </p:txBody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3AE54ECB-38A7-4E7B-829E-0AAFF55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F8B1B9A0-3EBA-4178-AE53-F8E4E21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EF928724-C8AD-4C23-9F2A-A3A52BB2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閱讀整合結果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EFA8FDCB-FDEC-4FFD-A251-A43E03C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摘要會成為一張紫色便條，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分析便條內容與連線關係。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結果仍需自行核對。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12E1E32C-7A8D-450B-AACF-4E8EB42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回查來源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BF95C1F2-5964-4045-B27A-B81750FB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 N1、N2 可找回來源便條。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「來源快照」保留生成時的內容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與連線，方便對照。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69F0C187-7AB8-41B3-B893-C72273D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912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來源修改後不會自動更新摘要。</a:t>
            </a:r>
          </a:p>
          <a:p xmlns:a="http://schemas.openxmlformats.org/drawingml/2006/main">
            <a:pPr>
              <a:def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56298"/>
                </a:solidFill>
                <a:latin typeface="Microsoft JhengHei"/>
                <a:ea typeface="Microsoft JhengHei"/>
                <a:cs typeface="Microsoft JhengHei"/>
              </a:rPr>
              <a:t>可按「再次整合」產生新的結果。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568BF-C6D9-45AE-A86B-6C9BCFEF8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778a723e47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83686" y="1676400"/>
            <a:ext cx="5168478" cy="5981700"/>
          </a:xfrm>
          <a:prstGeom xmlns:a="http://schemas.openxmlformats.org/drawingml/2006/main" prst="rect">
            <a:avLst/>
          </a:prstGeom>
        </p:spPr>
      </p:pic>
      <p:sp>
        <p:nvSpPr>
          <p:cNvPr id="10" name="text-87">
            <a:extLst xmlns:a="http://schemas.openxmlformats.org/drawingml/2006/main">
              <a:ext uri="{FF2B5EF4-FFF2-40B4-BE49-F238E27FC236}">
                <a16:creationId xmlns:a16="http://schemas.microsoft.com/office/drawing/2014/main" id="{334E4689-7941-4D2F-89C2-677FB274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667625"/>
            <a:ext cx="672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AI 回應為教學示例。</a:t>
            </a:r>
          </a:p>
        </p:txBody>
      </p:sp>
    </p:spTree>
    <p:extLst>
      <p:ext uri="{BB962C8B-B14F-4D97-AF65-F5344CB8AC3E}">
        <p14:creationId xmlns:p14="http://schemas.microsoft.com/office/powerpoint/2010/main" val="326735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014BD2A9-16C6-41DE-A35F-56BC44A3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匯出與備份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9DF23666-A638-4252-980D-DD23B7F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90">
            <a:extLst xmlns:a="http://schemas.openxmlformats.org/drawingml/2006/main">
              <a:ext uri="{FF2B5EF4-FFF2-40B4-BE49-F238E27FC236}">
                <a16:creationId xmlns:a16="http://schemas.microsoft.com/office/drawing/2014/main" id="{944E9228-6D96-4CC7-B0BA-7BA652B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DAEB3937-8DD0-4F91-956B-6E45EF0D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完整備份</a:t>
            </a:r>
          </a:p>
        </p:txBody>
      </p:sp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D1C5A896-9C31-4E67-9130-B3F07DD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點「匯出研究」，選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「完整研究封裝」。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下載的副檔名為 .researchpack。</a:t>
            </a:r>
          </a:p>
        </p:txBody>
      </p:sp>
      <p:sp>
        <p:nvSpPr>
          <p:cNvPr id="6" name="text-93">
            <a:extLst xmlns:a="http://schemas.openxmlformats.org/drawingml/2006/main">
              <a:ext uri="{FF2B5EF4-FFF2-40B4-BE49-F238E27FC236}">
                <a16:creationId xmlns:a16="http://schemas.microsoft.com/office/drawing/2014/main" id="{B66F4568-6AC6-4967-9BD5-B7E5B58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包含 PDF 與截圖</a:t>
            </a:r>
          </a:p>
        </p:txBody>
      </p:sp>
      <p:sp>
        <p:nvSpPr>
          <p:cNvPr id="7" name="text-94">
            <a:extLst xmlns:a="http://schemas.openxmlformats.org/drawingml/2006/main">
              <a:ext uri="{FF2B5EF4-FFF2-40B4-BE49-F238E27FC236}">
                <a16:creationId xmlns:a16="http://schemas.microsoft.com/office/drawing/2014/main" id="{DF2A1B77-CBF6-464D-A7BF-EF17120A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封裝保存 PDF、圖片、標記、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便條與連線，可換電腦還原。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匯出檔不包含 API Key。</a:t>
            </a:r>
          </a:p>
        </p:txBody>
      </p:sp>
      <p:sp>
        <p:nvSpPr>
          <p:cNvPr id="8" name="text-95">
            <a:extLst xmlns:a="http://schemas.openxmlformats.org/drawingml/2006/main">
              <a:ext uri="{FF2B5EF4-FFF2-40B4-BE49-F238E27FC236}">
                <a16:creationId xmlns:a16="http://schemas.microsoft.com/office/drawing/2014/main" id="{E695D913-CE40-4EAB-8EDA-D248117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Markdown 適合閱讀與寫作。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JSON 保留註記資料與附件資訊，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完整圖片請使用研究封裝備份。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6EBE-FC54-4F13-9DC2-6079278E1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3ee062bd246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32924" y="1685925"/>
            <a:ext cx="6746227" cy="601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067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5EE966F8-418D-481B-96DD-41C3B6DD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還原與資料保存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B707C669-54F0-49BD-BDB3-49446DD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PaperReader 使用指引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801C7320-DF80-4F4A-9223-854BEFC9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80581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A350AA29-F5A9-472D-80E0-F27BB98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1. 還原研究封裝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29CF89CB-CB3E-4B8E-8483-6C7BBB4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開啟左上「文獻庫」，點下方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「還原研究封裝 / JSON」，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選擇先前下載的 .researchpack。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673E5832-98B2-4874-BA99-711E1B46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2. 取代前先備份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E0669BEB-05BA-4924-A473-97475CC2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還原可能取代目前工作區。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請先備份目前研究，再依</a:t>
            </a:r>
          </a:p>
          <a:p xmlns:a="http://schemas.openxmlformats.org/drawingml/2006/main">
            <a:pPr>
              <a:def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確認視窗繼續。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4D4598C4-2F61-43E9-AC3B-0F5B41A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研究資料保存在目前瀏覽器。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清除網站資料、換瀏覽器或換網址，</a:t>
            </a:r>
          </a:p>
          <a:p xmlns:a="http://schemas.openxmlformats.org/drawingml/2006/main">
            <a:pPr>
              <a:def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3433A"/>
                </a:solidFill>
                <a:latin typeface="Microsoft JhengHei"/>
                <a:ea typeface="Microsoft JhengHei"/>
                <a:cs typeface="Microsoft JhengHei"/>
              </a:rPr>
              <a:t>都可能需要用封裝還原。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B2138-ADDA-454F-A91C-51B7C0467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32717507a4a02"/>
          <a:srcRect xmlns:a="http://schemas.openxmlformats.org/drawingml/2006/main" l="0" t="80240" r="0" b="0"/>
          <a:stretch xmlns:a="http://schemas.openxmlformats.org/drawingml/2006/main"/>
        </p:blipFill>
        <p:spPr>
          <a:xfrm xmlns:a="http://schemas.openxmlformats.org/drawingml/2006/main">
            <a:off x="7047634" y="2143125"/>
            <a:ext cx="6383482" cy="4619625"/>
          </a:xfrm>
          <a:prstGeom xmlns:a="http://schemas.openxmlformats.org/drawingml/2006/main" prst="rect">
            <a:avLst/>
          </a:prstGeom>
        </p:spPr>
      </p:pic>
      <p:sp>
        <p:nvSpPr>
          <p:cNvPr id="10" name="text-104">
            <a:extLst xmlns:a="http://schemas.openxmlformats.org/drawingml/2006/main">
              <a:ext uri="{FF2B5EF4-FFF2-40B4-BE49-F238E27FC236}">
                <a16:creationId xmlns:a16="http://schemas.microsoft.com/office/drawing/2014/main" id="{1FF23882-F65F-4069-8DC2-4F4BCA36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70485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7868"/>
                </a:solidFill>
                <a:latin typeface="Microsoft JhengHei"/>
                <a:ea typeface="Microsoft JhengHei"/>
                <a:cs typeface="Microsoft JhengHei"/>
              </a:rPr>
              <a:t>文獻庫下方操作區</a:t>
            </a:r>
          </a:p>
        </p:txBody>
      </p:sp>
      <p:sp>
        <p:nvSpPr>
          <p:cNvPr id="11" name="text-105">
            <a:extLst xmlns:a="http://schemas.openxmlformats.org/drawingml/2006/main">
              <a:ext uri="{FF2B5EF4-FFF2-40B4-BE49-F238E27FC236}">
                <a16:creationId xmlns:a16="http://schemas.microsoft.com/office/drawing/2014/main" id="{D9E05DD2-5212-45F6-8376-3F61221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0"/>
            <a:ext cx="1381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55C4B"/>
                </a:solidFill>
                <a:latin typeface="Microsoft JhengHei"/>
                <a:ea typeface="Microsoft JhengHei"/>
                <a:cs typeface="Microsoft JhengHei"/>
              </a:rPr>
              <a:t>定期下載備份。API Key 目前只暫存在分頁記憶體。</a:t>
            </a:r>
          </a:p>
        </p:txBody>
      </p:sp>
    </p:spTree>
    <p:extLst>
      <p:ext uri="{BB962C8B-B14F-4D97-AF65-F5344CB8AC3E}">
        <p14:creationId xmlns:p14="http://schemas.microsoft.com/office/powerpoint/2010/main" val="477725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2026-10-19T09:37:36.5880000Z</dcterms:created>
  <dcterms:modified xsi:type="dcterms:W3CDTF">2026-10-19T09:37:36.5880000Z</dcterms:modified>
</coreProperties>
</file>